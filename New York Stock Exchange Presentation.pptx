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301" r:id="rId7"/>
    <p:sldId id="291" r:id="rId8"/>
    <p:sldId id="302" r:id="rId9"/>
    <p:sldId id="303" r:id="rId10"/>
    <p:sldId id="304" r:id="rId11"/>
    <p:sldId id="305" r:id="rId12"/>
    <p:sldId id="300" r:id="rId13"/>
    <p:sldId id="299" r:id="rId14"/>
    <p:sldId id="295" r:id="rId15"/>
    <p:sldId id="306" r:id="rId16"/>
    <p:sldId id="290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5" r:id="rId25"/>
    <p:sldId id="316" r:id="rId26"/>
    <p:sldId id="2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646" autoAdjust="0"/>
  </p:normalViewPr>
  <p:slideViewPr>
    <p:cSldViewPr snapToGrid="0">
      <p:cViewPr varScale="1">
        <p:scale>
          <a:sx n="59" d="100"/>
          <a:sy n="59" d="100"/>
        </p:scale>
        <p:origin x="965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80A0-EB41-C420-845C-270F57CC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C7061-3F8C-786E-60C8-840B6115F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39A07-E792-73BB-5B84-BBF161912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0D00A-ACA6-5FC2-146B-4401E0FA2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63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83439-D76C-8CAF-0D32-9DB2D153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C8FFA-B149-F651-885D-646C6982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42E95-1600-0050-8B20-F4AEFB367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5DD2A-1219-285D-7C86-12CC5622C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966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985D-9E13-AA65-69CD-459EC1DC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FE865-EA3F-2CFF-495A-B7CF6C393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A6D0C-7A11-5E6D-B086-A1A1452E3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689F2-B1ED-B65A-465F-3006941E1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305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18E1-71E2-8116-8E99-48A9D2A7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90861-9C7D-3728-B661-D6FB66540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325F3-0FC9-30CC-E971-C919115B2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4896E-D553-09C0-EAEF-1BD705CF8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44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C56D-FBC7-F9BE-0D5B-CAB5AB84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78CAB-07CF-9CA6-4C32-88C1719EA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64886-D482-31DF-280E-1AD68E07E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CB4EE-0AC0-7450-CC86-9FCE0E860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018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40F7-E55E-9C37-0632-9ECE66E0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10ABB-384A-A978-56C3-F996FDD5C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3B8BA-B069-12F2-A825-6FA57BE52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A7118-A598-05E8-4754-7B23024A6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67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5FD8-810E-EC04-9767-7EEE1B73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DBD11-C60B-2F2C-0AD2-071A2EBF1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6756F-0194-D554-17B2-852139095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762EB-6B32-56C0-634D-F4035D791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90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0DCE-F860-3DF7-B47F-3042BF56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00027-A8C4-C8FC-8CA0-52B0E8738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AA186-0AC1-2B73-68EE-B96946874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36FF5-E3AF-B33F-40EB-A0F47BDF9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95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314E1-D444-BE5A-D50A-1EF4BC79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95E71-0D0A-2055-D0EE-FDDCC1821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8EBE6-B55E-89D0-17E1-9231F0B3E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A522-8121-87F2-7E4C-5377D1A67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98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495C-7334-8756-6E3F-32F94129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47448-E474-2186-2478-35185C49F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5B6DB-9373-7008-0A8C-93C697D1C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EADD2-2008-C7A3-562C-92F9D3EB4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9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DCF4A-65D9-A816-18D5-AA2C458E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5DFFF-57AC-0E5B-C4EC-0927AC074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CF04F-4C57-723C-C0E2-7E0D35056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6F6A3-9CCE-65BB-A8B0-7CF37EF1D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76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A6B0-C14E-EF0E-A893-64BA4019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E27F1-3B5B-DE76-0593-C4CCFFCA6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8AF84-9004-552F-879D-B5A10EB6A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9DC3C-764D-B4A0-E4EA-F57E38E62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59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939C-2A0C-3E53-6AD8-E5E9E51E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0CC6E-3B39-E2D2-D32D-90202F8D8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20EFD-6102-775B-5ADC-BDD941F54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FAE05-2596-0C52-AEC5-50E28F07A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09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185F-9AE4-6404-BEC1-999C1556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E5EC9-AD08-1FE6-B133-0B10CF4F9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BEAE6-80C6-08AE-A2CB-C4D7FACE7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D9347-5343-9A49-8263-4F995F82A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474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A1325-FA23-A5DC-D23C-21764B64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7BCBF-5A09-C933-BF14-942A37654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DD945-684F-A775-B25A-C525BEFEE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AF3E3-47CF-1393-3E20-7261A32AF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613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6E50-6206-152C-B5DE-F59AF1287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6C626-8CE6-6891-9DFB-C4E930781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F168A-A0C3-D16A-387C-B350BFAC2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DA073-8245-566D-156E-DFEE875EC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2087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433B-993F-7BC8-14C5-A1CECB8B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DA511-C49E-C51D-BED7-805287455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175EE-42D3-BE0B-AE33-85E3DB1AD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1EF45-E981-4A04-2510-1EC665E3F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041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580896" y="18000"/>
            <a:ext cx="3611104" cy="6857999"/>
            <a:chOff x="8580896" y="1"/>
            <a:chExt cx="3611104" cy="6857999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7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New York Stocks Analysis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491" y="2135570"/>
            <a:ext cx="10491018" cy="3252623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Problem Definition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Motivation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Statistical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Profit &amp; Loss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Financial Forecasting Model &amp; Sensitivity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8C5F-5DB4-CFDD-4713-BCD1D311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D894-0833-6C78-9074-1514659F4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Problem Definition</a:t>
            </a:r>
          </a:p>
        </p:txBody>
      </p:sp>
    </p:spTree>
    <p:extLst>
      <p:ext uri="{BB962C8B-B14F-4D97-AF65-F5344CB8AC3E}">
        <p14:creationId xmlns:p14="http://schemas.microsoft.com/office/powerpoint/2010/main" val="142682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7535" y="2014231"/>
            <a:ext cx="10336929" cy="388512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Stock​‍​‌‍​‍‌​‍​‌‍​‍‌​‍​‌‍​‍‌​‍​‌‍​‍‌ exchanges are volatile and influenced by a combination of factors, which makes the prediction of price changes and the understanding of the intrinsic value very difficult.</a:t>
            </a:r>
          </a:p>
          <a:p>
            <a:endParaRPr lang="en-US" sz="2400" dirty="0"/>
          </a:p>
          <a:p>
            <a:r>
              <a:rPr lang="en-US" sz="2400" dirty="0"/>
              <a:t>Large volumes of data are generated every day, leading to an enormous information overload. Therefore, it is extremely difficult for them to discover valuable patterns and signals amidst the noise.</a:t>
            </a:r>
          </a:p>
          <a:p>
            <a:endParaRPr lang="en-US" sz="2400" dirty="0"/>
          </a:p>
          <a:p>
            <a:r>
              <a:rPr lang="en-US" sz="2400" dirty="0"/>
              <a:t>Investors identifying risk and possible profit in an objective manner is among the most challenging tasks, as they have cognitive and emotional biases.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9D29-2EA9-EB2F-AE36-D532D593E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6193-6E6F-A770-9AC4-053062CB1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44922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924E-F901-37CF-CD7B-D5D4C820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67D04A-A0AA-4D66-E8D4-13561292B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E51BB-AF04-52AC-C6F9-26B488CC22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06408" y="1974902"/>
            <a:ext cx="9779183" cy="388512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Analysis has the power to unveil trading opportunities that bring in profits. These measures are consistent with the goals of wealth increment and financial stability assurance.</a:t>
            </a:r>
          </a:p>
          <a:p>
            <a:endParaRPr lang="en-US" sz="2400" dirty="0"/>
          </a:p>
          <a:p>
            <a:r>
              <a:rPr lang="en-US" sz="2400" dirty="0"/>
              <a:t>Understanding market trends is very instrumental in grasping the overall state of the economy and the condition of the different sectors. </a:t>
            </a:r>
          </a:p>
          <a:p>
            <a:endParaRPr lang="en-US" sz="2400" dirty="0"/>
          </a:p>
          <a:p>
            <a:r>
              <a:rPr lang="en-US" sz="2400" dirty="0"/>
              <a:t>Stock exchange analysis can be a powerful instrument for scenario diversification and for estimating potential losses. </a:t>
            </a:r>
          </a:p>
        </p:txBody>
      </p:sp>
    </p:spTree>
    <p:extLst>
      <p:ext uri="{BB962C8B-B14F-4D97-AF65-F5344CB8AC3E}">
        <p14:creationId xmlns:p14="http://schemas.microsoft.com/office/powerpoint/2010/main" val="54965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7F50A-648B-9171-BE09-DEEFF7D1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2CF9-809C-F95C-E7A2-40F0B6E48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107638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D26C-EE31-B7AF-B72F-F1644F50F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44F164-06FB-78F0-B595-F470B5C3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7CAEB-59D9-0B4E-85BD-27D619FB250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06408" y="1974902"/>
            <a:ext cx="9779183" cy="3885124"/>
          </a:xfrm>
        </p:spPr>
        <p:txBody>
          <a:bodyPr>
            <a:normAutofit/>
          </a:bodyPr>
          <a:lstStyle/>
          <a:p>
            <a:r>
              <a:rPr lang="en-US" sz="2400" dirty="0"/>
              <a:t>Create models which can predict stock prices or market trends in the future. The main rationale for such predictions is to provide a data-driven leverage for making decisions.</a:t>
            </a:r>
          </a:p>
          <a:p>
            <a:endParaRPr lang="en-US" sz="2400" dirty="0"/>
          </a:p>
          <a:p>
            <a:r>
              <a:rPr lang="en-US" sz="2400" dirty="0"/>
              <a:t>Produce insights that can identify an asset being undervalued or overvalued by using both fundamental and technical figures. As a result, investors are given the option to make more informed decisions regarding the buying or selling of assets.</a:t>
            </a:r>
          </a:p>
        </p:txBody>
      </p:sp>
    </p:spTree>
    <p:extLst>
      <p:ext uri="{BB962C8B-B14F-4D97-AF65-F5344CB8AC3E}">
        <p14:creationId xmlns:p14="http://schemas.microsoft.com/office/powerpoint/2010/main" val="319930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761F9-C92C-1D88-568D-C5664FCD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85E2-E9AC-C16D-687F-8BCE163E6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426885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2E78-A337-AAEF-0CB2-C3645255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982F-99E3-C683-8CAB-504C558E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73204"/>
            <a:ext cx="9692640" cy="679269"/>
          </a:xfrm>
        </p:spPr>
        <p:txBody>
          <a:bodyPr/>
          <a:lstStyle/>
          <a:p>
            <a:pPr algn="ctr"/>
            <a:r>
              <a:rPr lang="en-US" sz="6000" dirty="0"/>
              <a:t>Data</a:t>
            </a:r>
            <a:endParaRPr lang="en-US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E7C94912-D7AF-5CCF-FD41-FCFDEDB60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686800"/>
              </p:ext>
            </p:extLst>
          </p:nvPr>
        </p:nvGraphicFramePr>
        <p:xfrm>
          <a:off x="878113" y="1685559"/>
          <a:ext cx="10435773" cy="489812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859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47859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347859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6038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Ticker 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 for the companies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Number of the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38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300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Period 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period of the stocks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9001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GICS Sector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sector the company is under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  <a:tr h="9001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GICS Sub Industry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specific industry within the sector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12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38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73204"/>
            <a:ext cx="9692640" cy="679269"/>
          </a:xfrm>
        </p:spPr>
        <p:txBody>
          <a:bodyPr/>
          <a:lstStyle/>
          <a:p>
            <a:pPr algn="ctr"/>
            <a:r>
              <a:rPr lang="en-US" sz="6000" dirty="0"/>
              <a:t>Data</a:t>
            </a:r>
            <a:endParaRPr lang="en-US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440856"/>
              </p:ext>
            </p:extLst>
          </p:nvPr>
        </p:nvGraphicFramePr>
        <p:xfrm>
          <a:off x="878113" y="1685558"/>
          <a:ext cx="10435773" cy="44931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859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47859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347859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67861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total revenue the company made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 of Goods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costs of selling the goods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78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Sales, General and Admin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costs of the sales, general, and admin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Research and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costs of research and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0115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	 	 	 Other Operating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costs of other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A494-79F6-4946-D1E4-46F363E6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0375-1F18-88D6-2310-CA603245D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410610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FD070FCA-E474-4589-0BA5-83B33F22CE13}"/>
              </a:ext>
            </a:extLst>
          </p:cNvPr>
          <p:cNvSpPr txBox="1">
            <a:spLocks/>
          </p:cNvSpPr>
          <p:nvPr/>
        </p:nvSpPr>
        <p:spPr>
          <a:xfrm>
            <a:off x="305343" y="3879671"/>
            <a:ext cx="7649937" cy="27746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Financial Sectors average operating profit (~4.4B$) is much higher than the average operating profit of Health Care sectors (~2.5B$), with </a:t>
            </a:r>
            <a:r>
              <a:rPr lang="en-US" sz="2800" b="1" dirty="0"/>
              <a:t>76% increase</a:t>
            </a:r>
            <a:r>
              <a:rPr lang="en-US" sz="2800" dirty="0"/>
              <a:t> in the average operating profit.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This indicates on average, Financial sectors are more profitable.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1F4686-1237-1325-2266-F4A1BDF0A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31" y="569398"/>
            <a:ext cx="8078338" cy="323452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F424405-80BB-C0FE-6B66-DFA7E1D0F87E}"/>
              </a:ext>
            </a:extLst>
          </p:cNvPr>
          <p:cNvSpPr txBox="1">
            <a:spLocks/>
          </p:cNvSpPr>
          <p:nvPr/>
        </p:nvSpPr>
        <p:spPr>
          <a:xfrm>
            <a:off x="1963787" y="143743"/>
            <a:ext cx="8264426" cy="5377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3F0B-E8E2-56F6-1A54-87889A7F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9FF21172-BBB2-9578-93BF-329E0AC0AD45}"/>
              </a:ext>
            </a:extLst>
          </p:cNvPr>
          <p:cNvSpPr txBox="1">
            <a:spLocks/>
          </p:cNvSpPr>
          <p:nvPr/>
        </p:nvSpPr>
        <p:spPr>
          <a:xfrm>
            <a:off x="305343" y="3934551"/>
            <a:ext cx="7649937" cy="27981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Financial sectors are much more volatile than Health Care sectors as Financial sectors standard deviation (~7.3B$) which is more than </a:t>
            </a:r>
            <a:r>
              <a:rPr lang="en-US" sz="2800" b="1" dirty="0"/>
              <a:t>2x </a:t>
            </a:r>
            <a:r>
              <a:rPr lang="en-US" sz="2800" dirty="0"/>
              <a:t>the standard deviation of Health Care sectors (~3.5B$).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This shows that Financial sectors are much more volatile, therefore riskier to invest in.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6D33EE-3167-05FE-757C-978D5D323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31" y="595524"/>
            <a:ext cx="8078338" cy="32345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3E64E-8E28-75D3-7932-5071F88CEB65}"/>
              </a:ext>
            </a:extLst>
          </p:cNvPr>
          <p:cNvSpPr txBox="1">
            <a:spLocks/>
          </p:cNvSpPr>
          <p:nvPr/>
        </p:nvSpPr>
        <p:spPr>
          <a:xfrm>
            <a:off x="1963787" y="143743"/>
            <a:ext cx="8264426" cy="5377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3036680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A91C6-2AAE-24D3-826D-A1D1A6F19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1DBE6A1D-3E5C-0FB3-0A6F-E86AD3662430}"/>
              </a:ext>
            </a:extLst>
          </p:cNvPr>
          <p:cNvSpPr txBox="1">
            <a:spLocks/>
          </p:cNvSpPr>
          <p:nvPr/>
        </p:nvSpPr>
        <p:spPr>
          <a:xfrm>
            <a:off x="305343" y="4012929"/>
            <a:ext cx="7649937" cy="2798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Financial sectors have a wider range of profit, and it comes at the cost of a larger maximum loss (-1.7B$) in comparison with the Health Care sectors (-641M$)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This shows that Financial sectors have a high reward on investment but with greater risks.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BA2FE2-6795-6E43-A6DD-F9E5ED8FA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831" y="582461"/>
            <a:ext cx="8078338" cy="32345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0F9C9C-D8B9-A3BA-581D-8FF76F253EFB}"/>
              </a:ext>
            </a:extLst>
          </p:cNvPr>
          <p:cNvSpPr txBox="1">
            <a:spLocks/>
          </p:cNvSpPr>
          <p:nvPr/>
        </p:nvSpPr>
        <p:spPr>
          <a:xfrm>
            <a:off x="1963787" y="143743"/>
            <a:ext cx="8264426" cy="5377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579328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21E32-6DF9-4B72-17C1-BDA5B4D2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31613-DB0F-3573-E9E1-129EDA247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Profit &amp; Loss Statement</a:t>
            </a:r>
          </a:p>
        </p:txBody>
      </p:sp>
    </p:spTree>
    <p:extLst>
      <p:ext uri="{BB962C8B-B14F-4D97-AF65-F5344CB8AC3E}">
        <p14:creationId xmlns:p14="http://schemas.microsoft.com/office/powerpoint/2010/main" val="4160498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DE28-E82C-9B21-B286-99381028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16A4F9BD-CEAF-A3B2-7A55-63D6657D149C}"/>
              </a:ext>
            </a:extLst>
          </p:cNvPr>
          <p:cNvSpPr txBox="1">
            <a:spLocks/>
          </p:cNvSpPr>
          <p:nvPr/>
        </p:nvSpPr>
        <p:spPr>
          <a:xfrm>
            <a:off x="357595" y="4169679"/>
            <a:ext cx="7649937" cy="2798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user can select the company they want to view the profit and loss statement for, by selecting the desired Ticker Symbol.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It shows the EBIT, Revenue, and Costs throughout the years.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FBE9A-20B3-237F-C410-021FF836F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51" y="723232"/>
            <a:ext cx="8785106" cy="33074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5F29D4E-5BB7-84C8-BEC6-050458F9C222}"/>
              </a:ext>
            </a:extLst>
          </p:cNvPr>
          <p:cNvSpPr txBox="1">
            <a:spLocks/>
          </p:cNvSpPr>
          <p:nvPr/>
        </p:nvSpPr>
        <p:spPr>
          <a:xfrm>
            <a:off x="1963787" y="174588"/>
            <a:ext cx="8264426" cy="54387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Profit &amp; Loss Statement</a:t>
            </a:r>
          </a:p>
        </p:txBody>
      </p:sp>
    </p:spTree>
    <p:extLst>
      <p:ext uri="{BB962C8B-B14F-4D97-AF65-F5344CB8AC3E}">
        <p14:creationId xmlns:p14="http://schemas.microsoft.com/office/powerpoint/2010/main" val="509227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8F0F-779D-96D7-85BD-74C61BC5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2862-FB8E-AFCF-F583-51CC81BE3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Financial Forecasting Model &amp;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2956481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8EE3-B9CE-F4A7-1787-237A371A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87CC3466-5185-3160-177F-493B66E294AE}"/>
              </a:ext>
            </a:extLst>
          </p:cNvPr>
          <p:cNvSpPr txBox="1">
            <a:spLocks/>
          </p:cNvSpPr>
          <p:nvPr/>
        </p:nvSpPr>
        <p:spPr>
          <a:xfrm>
            <a:off x="357595" y="3670174"/>
            <a:ext cx="7649937" cy="2798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By selecting the desired Ticker Symbol and the scenario for prediction, as the model predicts after 2 years.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user can view the company’s profit and loss statement for the historical data for 4 years and 2 years in the future.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C705A-EBD6-A138-A274-AD633A16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01" y="1163575"/>
            <a:ext cx="10789713" cy="246137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C60AF2-7CF2-943B-2D17-3128B2CAA5BB}"/>
              </a:ext>
            </a:extLst>
          </p:cNvPr>
          <p:cNvSpPr txBox="1">
            <a:spLocks/>
          </p:cNvSpPr>
          <p:nvPr/>
        </p:nvSpPr>
        <p:spPr>
          <a:xfrm>
            <a:off x="792480" y="274678"/>
            <a:ext cx="10607040" cy="903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Financial Forecasting Model &amp;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334038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0807-6D17-436A-DA3A-2C3A45B2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B443A512-574B-A22C-2144-2D5BEA5607EF}"/>
              </a:ext>
            </a:extLst>
          </p:cNvPr>
          <p:cNvSpPr txBox="1">
            <a:spLocks/>
          </p:cNvSpPr>
          <p:nvPr/>
        </p:nvSpPr>
        <p:spPr>
          <a:xfrm>
            <a:off x="148589" y="5054838"/>
            <a:ext cx="7649937" cy="1189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screenshot highlights the different scenarios as well as the operating statistics that determine the forecasting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51554-7486-24DF-EBCB-ED746FC3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178234"/>
            <a:ext cx="9823061" cy="37862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7BD6C21-B296-A621-BBAD-4C8C36431B9E}"/>
              </a:ext>
            </a:extLst>
          </p:cNvPr>
          <p:cNvSpPr txBox="1">
            <a:spLocks/>
          </p:cNvSpPr>
          <p:nvPr/>
        </p:nvSpPr>
        <p:spPr>
          <a:xfrm>
            <a:off x="792480" y="0"/>
            <a:ext cx="10607040" cy="11782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Financial Forecasting Model &amp;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53133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87FF4-EEF9-E1A3-FA94-FF4BF6F3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9CC7-0AB5-A9AC-7FA2-45BF3E2BD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9301"/>
            <a:ext cx="8264426" cy="3830130"/>
          </a:xfrm>
        </p:spPr>
        <p:txBody>
          <a:bodyPr/>
          <a:lstStyle/>
          <a:p>
            <a:r>
              <a:rPr lang="en-US" dirty="0"/>
              <a:t>Financial Dashboard</a:t>
            </a:r>
          </a:p>
        </p:txBody>
      </p:sp>
    </p:spTree>
    <p:extLst>
      <p:ext uri="{BB962C8B-B14F-4D97-AF65-F5344CB8AC3E}">
        <p14:creationId xmlns:p14="http://schemas.microsoft.com/office/powerpoint/2010/main" val="4135331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FAD9-803E-D0B6-94B7-68A226A3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885A44-ABBB-9F46-DB92-4DDD17AAD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7598"/>
            <a:ext cx="11103429" cy="4094747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57266AB-A2F5-F5F7-E1EC-673FB672E4D4}"/>
              </a:ext>
            </a:extLst>
          </p:cNvPr>
          <p:cNvSpPr txBox="1">
            <a:spLocks/>
          </p:cNvSpPr>
          <p:nvPr/>
        </p:nvSpPr>
        <p:spPr>
          <a:xfrm>
            <a:off x="96338" y="5295797"/>
            <a:ext cx="7649937" cy="1189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user can filter through the data if they choose to focus on specific sectors or years.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D0FB39-63B8-2FB2-F991-E37C5F747981}"/>
              </a:ext>
            </a:extLst>
          </p:cNvPr>
          <p:cNvSpPr txBox="1">
            <a:spLocks/>
          </p:cNvSpPr>
          <p:nvPr/>
        </p:nvSpPr>
        <p:spPr>
          <a:xfrm>
            <a:off x="3500848" y="156322"/>
            <a:ext cx="5190304" cy="6945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Financial 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130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862" y="2983926"/>
            <a:ext cx="6220278" cy="89014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{D2170CE9-99BD-4234-BD2C-DECAAC6679BA}TF0e83fa2d-9a66-4e5e-9e82-acc620be7a498e277179_win32-f234380521c6</Template>
  <TotalTime>297</TotalTime>
  <Words>718</Words>
  <Application>Microsoft Office PowerPoint</Application>
  <PresentationFormat>Widescreen</PresentationFormat>
  <Paragraphs>118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Tenorite</vt:lpstr>
      <vt:lpstr>Wingdings</vt:lpstr>
      <vt:lpstr>Custom</vt:lpstr>
      <vt:lpstr>New York Stocks Analysis</vt:lpstr>
      <vt:lpstr>Agenda</vt:lpstr>
      <vt:lpstr>Problem Definition</vt:lpstr>
      <vt:lpstr>Problem Definition</vt:lpstr>
      <vt:lpstr>Motivation</vt:lpstr>
      <vt:lpstr>Motivation</vt:lpstr>
      <vt:lpstr>Objective</vt:lpstr>
      <vt:lpstr>Objective</vt:lpstr>
      <vt:lpstr>Data</vt:lpstr>
      <vt:lpstr>Data</vt:lpstr>
      <vt:lpstr>Data</vt:lpstr>
      <vt:lpstr>Statistical Analysis</vt:lpstr>
      <vt:lpstr>PowerPoint Presentation</vt:lpstr>
      <vt:lpstr>PowerPoint Presentation</vt:lpstr>
      <vt:lpstr>PowerPoint Presentation</vt:lpstr>
      <vt:lpstr>Profit &amp; Loss Statement</vt:lpstr>
      <vt:lpstr>PowerPoint Presentation</vt:lpstr>
      <vt:lpstr>Financial Forecasting Model &amp; Sensitivity Analysis</vt:lpstr>
      <vt:lpstr>PowerPoint Presentation</vt:lpstr>
      <vt:lpstr>PowerPoint Presentation</vt:lpstr>
      <vt:lpstr>Financial Dashboard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عبد المنعم عبد الرحمن عبده لاشين</dc:creator>
  <cp:lastModifiedBy>محمد عبد المنعم عبد الرحمن عبده لاشين</cp:lastModifiedBy>
  <cp:revision>7</cp:revision>
  <dcterms:created xsi:type="dcterms:W3CDTF">2025-11-14T15:04:27Z</dcterms:created>
  <dcterms:modified xsi:type="dcterms:W3CDTF">2025-11-14T23:55:12Z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